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sldIdLst>
    <p:sldId id="256" r:id="rId5"/>
    <p:sldId id="257" r:id="rId6"/>
    <p:sldId id="266" r:id="rId7"/>
    <p:sldId id="26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6CF467-CD13-AF4F-8792-7D433C3DE3E8}" v="62" dt="2024-03-13T14:00:06.9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43"/>
    <p:restoredTop sz="94720"/>
  </p:normalViewPr>
  <p:slideViewPr>
    <p:cSldViewPr snapToGrid="0" showGuides="1">
      <p:cViewPr varScale="1">
        <p:scale>
          <a:sx n="69" d="100"/>
          <a:sy n="69" d="100"/>
        </p:scale>
        <p:origin x="208" y="896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, Xinyi" userId="fce1cb6a-7231-46fc-9d0a-0746375e088b" providerId="ADAL" clId="{A86CF467-CD13-AF4F-8792-7D433C3DE3E8}"/>
    <pc:docChg chg="undo custSel modSld">
      <pc:chgData name="HU, Xinyi" userId="fce1cb6a-7231-46fc-9d0a-0746375e088b" providerId="ADAL" clId="{A86CF467-CD13-AF4F-8792-7D433C3DE3E8}" dt="2024-03-13T14:00:06.904" v="316"/>
      <pc:docMkLst>
        <pc:docMk/>
      </pc:docMkLst>
      <pc:sldChg chg="modAnim">
        <pc:chgData name="HU, Xinyi" userId="fce1cb6a-7231-46fc-9d0a-0746375e088b" providerId="ADAL" clId="{A86CF467-CD13-AF4F-8792-7D433C3DE3E8}" dt="2024-03-13T13:44:43.776" v="0"/>
        <pc:sldMkLst>
          <pc:docMk/>
          <pc:sldMk cId="4174516243" sldId="266"/>
        </pc:sldMkLst>
      </pc:sldChg>
      <pc:sldChg chg="addSp delSp modSp mod addAnim delAnim modAnim">
        <pc:chgData name="HU, Xinyi" userId="fce1cb6a-7231-46fc-9d0a-0746375e088b" providerId="ADAL" clId="{A86CF467-CD13-AF4F-8792-7D433C3DE3E8}" dt="2024-03-13T14:00:06.904" v="316"/>
        <pc:sldMkLst>
          <pc:docMk/>
          <pc:sldMk cId="2096199696" sldId="268"/>
        </pc:sldMkLst>
        <pc:spChg chg="mod">
          <ac:chgData name="HU, Xinyi" userId="fce1cb6a-7231-46fc-9d0a-0746375e088b" providerId="ADAL" clId="{A86CF467-CD13-AF4F-8792-7D433C3DE3E8}" dt="2024-03-13T13:53:43.130" v="27" actId="5793"/>
          <ac:spMkLst>
            <pc:docMk/>
            <pc:sldMk cId="2096199696" sldId="268"/>
            <ac:spMk id="3" creationId="{7A3C9032-9263-74AA-8D78-C492B3FD254E}"/>
          </ac:spMkLst>
        </pc:spChg>
        <pc:spChg chg="add mod">
          <ac:chgData name="HU, Xinyi" userId="fce1cb6a-7231-46fc-9d0a-0746375e088b" providerId="ADAL" clId="{A86CF467-CD13-AF4F-8792-7D433C3DE3E8}" dt="2024-03-13T13:59:34.588" v="315" actId="1038"/>
          <ac:spMkLst>
            <pc:docMk/>
            <pc:sldMk cId="2096199696" sldId="268"/>
            <ac:spMk id="8" creationId="{A8EB5FD3-4FA9-4AE3-6CB1-D13B5C40D145}"/>
          </ac:spMkLst>
        </pc:spChg>
        <pc:spChg chg="add del mod">
          <ac:chgData name="HU, Xinyi" userId="fce1cb6a-7231-46fc-9d0a-0746375e088b" providerId="ADAL" clId="{A86CF467-CD13-AF4F-8792-7D433C3DE3E8}" dt="2024-03-13T13:54:26.009" v="33"/>
          <ac:spMkLst>
            <pc:docMk/>
            <pc:sldMk cId="2096199696" sldId="268"/>
            <ac:spMk id="9" creationId="{467DFD73-0BB5-37EA-2E20-D90C4D6FB2D0}"/>
          </ac:spMkLst>
        </pc:spChg>
        <pc:spChg chg="add del">
          <ac:chgData name="HU, Xinyi" userId="fce1cb6a-7231-46fc-9d0a-0746375e088b" providerId="ADAL" clId="{A86CF467-CD13-AF4F-8792-7D433C3DE3E8}" dt="2024-03-13T13:54:36.610" v="35" actId="22"/>
          <ac:spMkLst>
            <pc:docMk/>
            <pc:sldMk cId="2096199696" sldId="268"/>
            <ac:spMk id="11" creationId="{77B4BF8B-27A4-3D03-BA8D-267C7E475139}"/>
          </ac:spMkLst>
        </pc:spChg>
        <pc:spChg chg="add mod">
          <ac:chgData name="HU, Xinyi" userId="fce1cb6a-7231-46fc-9d0a-0746375e088b" providerId="ADAL" clId="{A86CF467-CD13-AF4F-8792-7D433C3DE3E8}" dt="2024-03-13T13:59:34.588" v="315" actId="1038"/>
          <ac:spMkLst>
            <pc:docMk/>
            <pc:sldMk cId="2096199696" sldId="268"/>
            <ac:spMk id="13" creationId="{70BD6B37-B4BC-7877-B58E-A58430E54B0E}"/>
          </ac:spMkLst>
        </pc:spChg>
        <pc:spChg chg="add mod">
          <ac:chgData name="HU, Xinyi" userId="fce1cb6a-7231-46fc-9d0a-0746375e088b" providerId="ADAL" clId="{A86CF467-CD13-AF4F-8792-7D433C3DE3E8}" dt="2024-03-13T13:59:34.588" v="315" actId="1038"/>
          <ac:spMkLst>
            <pc:docMk/>
            <pc:sldMk cId="2096199696" sldId="268"/>
            <ac:spMk id="14" creationId="{A39AB908-5D91-ED3F-209E-B523F4D253DB}"/>
          </ac:spMkLst>
        </pc:spChg>
        <pc:spChg chg="add mod">
          <ac:chgData name="HU, Xinyi" userId="fce1cb6a-7231-46fc-9d0a-0746375e088b" providerId="ADAL" clId="{A86CF467-CD13-AF4F-8792-7D433C3DE3E8}" dt="2024-03-13T13:59:34.588" v="315" actId="1038"/>
          <ac:spMkLst>
            <pc:docMk/>
            <pc:sldMk cId="2096199696" sldId="268"/>
            <ac:spMk id="15" creationId="{D0D853EB-9CC2-42E3-BEF1-4AF301E3CA9C}"/>
          </ac:spMkLst>
        </pc:spChg>
        <pc:spChg chg="add del mod">
          <ac:chgData name="HU, Xinyi" userId="fce1cb6a-7231-46fc-9d0a-0746375e088b" providerId="ADAL" clId="{A86CF467-CD13-AF4F-8792-7D433C3DE3E8}" dt="2024-03-13T13:58:21.107" v="226" actId="478"/>
          <ac:spMkLst>
            <pc:docMk/>
            <pc:sldMk cId="2096199696" sldId="268"/>
            <ac:spMk id="16" creationId="{C361467B-30E2-C227-4908-FD10A473B6CD}"/>
          </ac:spMkLst>
        </pc:spChg>
        <pc:spChg chg="add del mod">
          <ac:chgData name="HU, Xinyi" userId="fce1cb6a-7231-46fc-9d0a-0746375e088b" providerId="ADAL" clId="{A86CF467-CD13-AF4F-8792-7D433C3DE3E8}" dt="2024-03-13T13:59:34.588" v="315" actId="1038"/>
          <ac:spMkLst>
            <pc:docMk/>
            <pc:sldMk cId="2096199696" sldId="268"/>
            <ac:spMk id="17" creationId="{4757E714-CDBC-DAA4-A090-2FECFA066CC1}"/>
          </ac:spMkLst>
        </pc:spChg>
        <pc:graphicFrameChg chg="add del mod">
          <ac:chgData name="HU, Xinyi" userId="fce1cb6a-7231-46fc-9d0a-0746375e088b" providerId="ADAL" clId="{A86CF467-CD13-AF4F-8792-7D433C3DE3E8}" dt="2024-03-13T13:51:35.152" v="2"/>
          <ac:graphicFrameMkLst>
            <pc:docMk/>
            <pc:sldMk cId="2096199696" sldId="268"/>
            <ac:graphicFrameMk id="5" creationId="{00F41DAD-095E-2FA1-53C9-C16ABB84A731}"/>
          </ac:graphicFrameMkLst>
        </pc:graphicFrameChg>
        <pc:picChg chg="mod">
          <ac:chgData name="HU, Xinyi" userId="fce1cb6a-7231-46fc-9d0a-0746375e088b" providerId="ADAL" clId="{A86CF467-CD13-AF4F-8792-7D433C3DE3E8}" dt="2024-03-13T13:59:34.588" v="315" actId="1038"/>
          <ac:picMkLst>
            <pc:docMk/>
            <pc:sldMk cId="2096199696" sldId="268"/>
            <ac:picMk id="6" creationId="{00000000-0000-0000-0000-000000000000}"/>
          </ac:picMkLst>
        </pc:picChg>
        <pc:picChg chg="add mod">
          <ac:chgData name="HU, Xinyi" userId="fce1cb6a-7231-46fc-9d0a-0746375e088b" providerId="ADAL" clId="{A86CF467-CD13-AF4F-8792-7D433C3DE3E8}" dt="2024-03-13T13:59:34.588" v="315" actId="1038"/>
          <ac:picMkLst>
            <pc:docMk/>
            <pc:sldMk cId="2096199696" sldId="268"/>
            <ac:picMk id="7" creationId="{4D7EE361-AB62-2F55-5719-E9FE348A529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DA4E72-0B8F-0640-B3AB-352723F9420A}" type="datetimeFigureOut">
              <a:rPr lang="en-US" smtClean="0"/>
              <a:t>9/30/25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AF1AD7-C438-A049-BAD1-C81791766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039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training, we not only get A and x*, but also get the true objective values: add the obj values into the training loss</a:t>
            </a:r>
          </a:p>
          <a:p>
            <a:r>
              <a:rPr lang="en-US" dirty="0"/>
              <a:t>why this may be better: now the training loss is really the upper bound of the test loss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AF1AD7-C438-A049-BAD1-C81791766DC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1458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AF1AD7-C438-A049-BAD1-C81791766DC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8247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AF1AD7-C438-A049-BAD1-C81791766DC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774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89187-F4C2-8E8B-09D8-EA8F359594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4C5FAC-0E69-E9DC-C311-DC5230A195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C4EF1-02BA-4B10-DAAC-C92A46F2D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3754F-F169-495D-9F3B-D50A1B0ABE3B}" type="datetime1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C3436-B96F-357B-7AF1-765EDF8B4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32AC82-8DD8-958D-F87E-8D6323D4B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2720E-8F03-784C-8F55-34AF7F09A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485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0F612-5B57-82DF-8E47-29202BA97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CBD1A-DE23-6D61-C2A4-437B63F1F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C712CD-B925-0DB7-9650-5712F9F2D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FAB32-1242-4A49-832E-F53F4FB1E339}" type="datetime1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D4274F-B470-8BDC-0632-55E8BA559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2DF03-58BC-76E3-9930-3668EA015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2720E-8F03-784C-8F55-34AF7F09A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13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18824-48C0-FCF1-8565-8A70F9F19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333916-2D80-45EC-2963-3A53DAA4CE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3ECC1-43AE-5CFC-6787-AB30FAC77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5E305-B6C6-4856-BC35-4B9DCD4DEBD2}" type="datetime1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0A652-4409-518E-B761-86737308D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30B40-B2AA-A17E-5920-8DD1590FB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2720E-8F03-784C-8F55-34AF7F09A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870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A2994-BB11-E8E3-25A6-39CDF9786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1F110-0587-3B76-212D-CAF326D3A4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6C273A-598E-B89A-128E-F2CFE059E2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169288-34B8-75F4-0B99-534D61BB0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2EE8-C677-4155-95C2-56D2D9973E90}" type="datetime1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8DA6AB-85D6-8E61-7BA3-9682D72B4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1F0CB6-E6D8-3F2B-BCEC-492F72F3E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2720E-8F03-784C-8F55-34AF7F09A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691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CB2B0-C35D-AB25-6403-235B04C97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2A7DC-2A60-6EE5-E316-09C5B6AAB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6B4179-6AD9-8F4E-08F9-3391CF5E18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104F76-6C5C-8426-8509-25A6633391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50BFF0-A42A-494D-A0E2-6629FFE6F6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0BFD43-D3C8-82DC-C893-ECEEBC758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BD2E4-61B2-4036-B7F5-6A550557C69A}" type="datetime1">
              <a:rPr lang="en-US" smtClean="0"/>
              <a:t>9/30/25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C88B26-6AD9-212D-B598-3D6218820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8E3DE2-8894-1231-85C8-A969119D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2720E-8F03-784C-8F55-34AF7F09A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613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598EB-5F1F-C07A-7008-84E077F6E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F0213E-D20F-C8EF-599B-A320C3DB3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BD402-67E3-4B37-87EC-9D03FDD42176}" type="datetime1">
              <a:rPr lang="en-US" smtClean="0"/>
              <a:t>9/30/25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197EAE-C5A1-CFF0-9F08-6264A9EB1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2A9787-C006-893F-EBC5-92EFC4E3A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2720E-8F03-784C-8F55-34AF7F09A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213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7857D7-BC2E-E9E2-3B4B-93F1CFC9D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7E528-92C1-42A0-BDB6-CDD56FEDFC3A}" type="datetime1">
              <a:rPr lang="en-US" smtClean="0"/>
              <a:t>9/30/25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101A04-A73A-477E-4C98-243641C5B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B4D1D-E390-F827-D028-9BE7F4E38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2720E-8F03-784C-8F55-34AF7F09A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945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C0783-1B87-9027-99ED-3E91597DF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BFDD0-924E-F27E-A990-F72644F7D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204027-2F7B-3178-FFFD-DD1C97B6F6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6AD5A6-9D29-4906-8295-151C432DF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A5E07-90A1-4666-BE48-2E3CC245B614}" type="datetime1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61EA08-3E17-7EE3-CCE0-5BFAFA201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C2799C-CFCF-E438-4359-BF00771F1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2720E-8F03-784C-8F55-34AF7F09A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108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B26C9-B6BD-0FDF-7C06-7B9910BA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8602F5-F5AB-F2FB-5E27-48511F21AA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F3796F-7440-9AD8-C2EA-7574A364EA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B2B2D6-4E28-649A-F2D6-2C596EECB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552D1-586E-4C59-82F6-60EC2FBFF2A2}" type="datetime1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AA0E8F-C878-4CE4-05A7-06A26666C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7ACE6C-25CB-BA55-75A7-CAF9C1C55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2720E-8F03-784C-8F55-34AF7F09A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636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5282D-B3AD-4217-CD45-F65E07B04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21DB90-D88E-A548-DFF6-A2D5750B73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3408D-D679-A6AC-E565-1F82E3565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5DEFE-9E9E-4E29-8604-F29034170CED}" type="datetime1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0E834-4515-75F7-660D-8292D818D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03BB9-226C-2DBD-4574-99BF0CFCF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2720E-8F03-784C-8F55-34AF7F09A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09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E7F525-9FE7-C3B1-C778-13CD80C99E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AC1128-9167-1084-DDC8-CBB76BA676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E7B1DB-2EA8-DA68-8B31-D18FF3AEB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B348-3CA1-4775-AD3F-6719F555173C}" type="datetime1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07E74-D5F5-6C1D-5B6A-13AF47CBE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08C29-6E30-7EC4-58F3-54F4DDFFF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2720E-8F03-784C-8F55-34AF7F09A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816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9B891E-A6E9-6ADE-D38B-1AB25276A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29594D-74C8-5B66-0226-8E98AEF5E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17180-5C37-1E49-E8F7-16EA482AFA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17156C-7EB1-4EB0-B80C-577D81681017}" type="datetime1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02AFC-765F-589F-B962-F79A766425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463A0-8CA9-9A2F-C38E-61D4E58746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2720E-8F03-784C-8F55-34AF7F09A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016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6C04F-07AA-0E35-65A3-03D6E86746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P+O Approach for a New Problem Setting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7E86E0-A043-141C-01CD-53F690FBED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42508"/>
            <a:ext cx="9144000" cy="1115291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Preliminary results on alloy production problem (a covering LP used in our </a:t>
            </a:r>
            <a:r>
              <a:rPr lang="en-US" sz="2000" dirty="0" err="1"/>
              <a:t>NeurIPS</a:t>
            </a:r>
            <a:r>
              <a:rPr lang="en-US" sz="2000" dirty="0"/>
              <a:t> submission) are bad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One possible reason is that we cannot use MSE as warm-start in this new setting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2720E-8F03-784C-8F55-34AF7F09A95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115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B899C-8001-22B1-F7AB-6A00DB974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Problem Setting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3C9032-9263-74AA-8D78-C492B3FD25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35133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2000" dirty="0"/>
                  <a:t>For training, we get feature-solution pairs: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endParaRPr lang="en-US" sz="1800" dirty="0"/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800" dirty="0"/>
                  <a:t> </a:t>
                </a:r>
                <a:r>
                  <a:rPr lang="en-HK" sz="1800" dirty="0"/>
                  <a:t>is the optimal solution under the true parameters </a:t>
                </a:r>
                <a14:m>
                  <m:oMath xmlns:m="http://schemas.openxmlformats.org/officeDocument/2006/math">
                    <m:r>
                      <a:rPr lang="en-HK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endParaRPr lang="en-US" sz="1800" dirty="0"/>
              </a:p>
              <a:p>
                <a:pPr lvl="1">
                  <a:lnSpc>
                    <a:spcPct val="100000"/>
                  </a:lnSpc>
                </a:pPr>
                <a:r>
                  <a:rPr lang="en-US" sz="1800" dirty="0"/>
                  <a:t>What we want to predict: estimated parameters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HK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endParaRPr lang="en-US" sz="180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00000"/>
                  </a:lnSpc>
                </a:pPr>
                <a:r>
                  <a:rPr lang="en-US" sz="1800" dirty="0"/>
                  <a:t>Training loss: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𝑃𝑒𝑛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/>
                  <a:t> is the Stage 1 estimated solution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latin typeface="Cambria Math" panose="02040503050406030204" pitchFamily="18" charset="0"/>
                                </a:rPr>
                                <m:t>argmin</m:t>
                              </m:r>
                            </m:e>
                            <m:lim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lim>
                          </m:limLow>
                        </m:fName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𝑜𝑏𝑗</m:t>
                          </m:r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HK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e>
                          </m:d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HK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sz="1800" dirty="0"/>
              </a:p>
              <a:p>
                <a:pPr lvl="1">
                  <a:lnSpc>
                    <a:spcPct val="100000"/>
                  </a:lnSpc>
                </a:pPr>
                <a:r>
                  <a:rPr lang="en-US" sz="1800" dirty="0"/>
                  <a:t>Backward propagation:</a:t>
                </a:r>
              </a:p>
              <a:p>
                <a:pPr marL="457200" lvl="1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𝑃𝑒𝑛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→</m:t>
                          </m:r>
                          <m:sSup>
                            <m:sSupPr>
                              <m:ctrlP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den>
                      </m:f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𝑃𝑒𝑛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→</m:t>
                          </m:r>
                          <m:sSup>
                            <m:sSupPr>
                              <m:ctrlP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HK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den>
                      </m:f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HK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num>
                        <m:den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800" dirty="0"/>
              </a:p>
              <a:p>
                <a:pPr>
                  <a:lnSpc>
                    <a:spcPct val="100000"/>
                  </a:lnSpc>
                </a:pPr>
                <a:endParaRPr lang="en-US" sz="1800" dirty="0"/>
              </a:p>
              <a:p>
                <a:pPr>
                  <a:lnSpc>
                    <a:spcPct val="100000"/>
                  </a:lnSpc>
                </a:pPr>
                <a:r>
                  <a:rPr lang="en-US" sz="2000" dirty="0"/>
                  <a:t>For test, we get feature-(true parameter) pairs: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HK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sz="1800" dirty="0"/>
              </a:p>
              <a:p>
                <a:pPr lvl="1">
                  <a:lnSpc>
                    <a:spcPct val="100000"/>
                  </a:lnSpc>
                </a:pPr>
                <a:r>
                  <a:rPr lang="en-US" sz="1800" dirty="0"/>
                  <a:t>Evaluation (Test loss): the original post-hoc regret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𝑃𝑒𝑛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𝑜𝑏𝑗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𝑜𝑏𝑗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3C9032-9263-74AA-8D78-C492B3FD25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351338"/>
              </a:xfrm>
              <a:blipFill>
                <a:blip r:embed="rId3"/>
                <a:stretch>
                  <a:fillRect l="-522" t="-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2720E-8F03-784C-8F55-34AF7F09A95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235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B899C-8001-22B1-F7AB-6A00DB974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502"/>
            <a:ext cx="10515600" cy="1325563"/>
          </a:xfrm>
        </p:spPr>
        <p:txBody>
          <a:bodyPr/>
          <a:lstStyle/>
          <a:p>
            <a:r>
              <a:rPr lang="en-US" dirty="0"/>
              <a:t>Preliminary Experiment Results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3C9032-9263-74AA-8D78-C492B3FD25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1065"/>
                <a:ext cx="10883462" cy="5288335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1800" dirty="0"/>
                  <a:t>Conduct experiments on 0-1 knapsack problem: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𝐶𝑎𝑝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∈[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0,1]</m:t>
                      </m:r>
                    </m:oMath>
                  </m:oMathPara>
                </a14:m>
                <a:endParaRPr lang="en-US" sz="1800" dirty="0"/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1800" dirty="0"/>
                  <a:t> are the unknown parameters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800" dirty="0"/>
                  <a:t>Penalty functions</a:t>
                </a:r>
                <a:endParaRPr lang="en-US" sz="1600" dirty="0"/>
              </a:p>
              <a:p>
                <a:pPr lvl="1">
                  <a:lnSpc>
                    <a:spcPct val="100000"/>
                  </a:lnSpc>
                </a:pPr>
                <a:r>
                  <a:rPr lang="en-US" sz="1600" dirty="0"/>
                  <a:t>Since we assume that the penalty function has no explicit dependence on the unknown parameters: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𝑃𝑒𝑛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𝐾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1600" dirty="0"/>
                  <a:t>         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600" dirty="0"/>
                  <a:t> is a constant value, representing the transaction fee or compensation fee for lately adding or dropping selected items</a:t>
                </a:r>
              </a:p>
              <a:p>
                <a:pPr lvl="1">
                  <a:lnSpc>
                    <a:spcPct val="100000"/>
                  </a:lnSpc>
                </a:pPr>
                <a:endParaRPr lang="en-US" sz="16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 lvl="1">
                  <a:lnSpc>
                    <a:spcPct val="100000"/>
                  </a:lnSpc>
                </a:pPr>
                <a:r>
                  <a:rPr lang="en-US" sz="1600" dirty="0">
                    <a:solidFill>
                      <a:schemeClr val="accent1">
                        <a:lumMod val="75000"/>
                      </a:schemeClr>
                    </a:solidFill>
                  </a:rPr>
                  <a:t>Try to minimize the difference between the predicted solutions and the true optimal solutions (the aim of </a:t>
                </a:r>
                <a:r>
                  <a:rPr lang="en-US" sz="1600" dirty="0" err="1">
                    <a:solidFill>
                      <a:schemeClr val="accent1">
                        <a:lumMod val="75000"/>
                      </a:schemeClr>
                    </a:solidFill>
                  </a:rPr>
                  <a:t>CombOptNet</a:t>
                </a:r>
                <a:r>
                  <a:rPr lang="en-US" sz="1600" dirty="0">
                    <a:solidFill>
                      <a:schemeClr val="accent1">
                        <a:lumMod val="75000"/>
                      </a:schemeClr>
                    </a:solidFill>
                  </a:rPr>
                  <a:t>)?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sz="1600" dirty="0">
                    <a:solidFill>
                      <a:schemeClr val="accent1">
                        <a:lumMod val="75000"/>
                      </a:schemeClr>
                    </a:solidFill>
                  </a:rPr>
                  <a:t>In experiments ran in our Two-stage paper, we only allow lately dropping items. However, under this scenario,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accent1">
                        <a:lumMod val="75000"/>
                      </a:schemeClr>
                    </a:solidFill>
                  </a:rPr>
                  <a:t> cannot be changed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600" dirty="0">
                    <a:solidFill>
                      <a:schemeClr val="accent1">
                        <a:lumMod val="75000"/>
                      </a:schemeClr>
                    </a:solidFill>
                  </a:rPr>
                  <a:t>, then how to compute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𝑃𝑒𝑛</m:t>
                    </m:r>
                    <m:d>
                      <m:dPr>
                        <m:ctrlPr>
                          <a:rPr lang="en-US" sz="16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16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chemeClr val="accent1">
                        <a:lumMod val="75000"/>
                      </a:schemeClr>
                    </a:solidFill>
                  </a:rPr>
                  <a:t>?</a:t>
                </a:r>
              </a:p>
              <a:p>
                <a:pPr lvl="2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𝑃𝑒𝑛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sSupPr>
                            <m:ctrlPr>
                              <a:rPr lang="en-US" sz="16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6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sz="16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16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6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16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sz="16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6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1600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sz="16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en-US" sz="1600" dirty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</a:rPr>
                                <m:t> 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6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sSup>
                                <m:sSupPr>
                                  <m:ctrlPr>
                                    <a:rPr lang="en-US" sz="1600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US" sz="16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6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6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p>
                                <m:sSupPr>
                                  <m:ctrlPr>
                                    <a:rPr lang="en-US" sz="1600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endParaRPr lang="en-US" sz="14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 lvl="2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𝑃𝑒𝑛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sSupPr>
                            <m:ctrlPr>
                              <a:rPr lang="en-US" sz="16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6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sz="16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16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6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16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sz="16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6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1600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sz="16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en-US" sz="1600" dirty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</a:rPr>
                                <m:t> 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6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sSup>
                                <m:sSupPr>
                                  <m:ctrlPr>
                                    <a:rPr lang="en-US" sz="1600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US" sz="16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6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p>
                                <m:sSupPr>
                                  <m:ctrlPr>
                                    <a:rPr lang="en-US" sz="1600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3C9032-9263-74AA-8D78-C492B3FD25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1065"/>
                <a:ext cx="10883462" cy="5288335"/>
              </a:xfrm>
              <a:blipFill>
                <a:blip r:embed="rId3"/>
                <a:stretch>
                  <a:fillRect l="-504" t="-6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2720E-8F03-784C-8F55-34AF7F09A95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516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B899C-8001-22B1-F7AB-6A00DB974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Preliminary Experiment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C9032-9263-74AA-8D78-C492B3FD2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97905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800" dirty="0"/>
              <a:t>Since the true parameters are unknown when training, we cannot use MSE as warm-start now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Use the same dataset (4096 features per parameter) as our Two-stage paper, 10 simulations, each simulation contains 700 training instances and 300 test instances</a:t>
            </a:r>
          </a:p>
          <a:p>
            <a:pPr>
              <a:lnSpc>
                <a:spcPct val="100000"/>
              </a:lnSpc>
            </a:pPr>
            <a:endParaRPr lang="en-US" sz="1600" dirty="0"/>
          </a:p>
          <a:p>
            <a:pPr lvl="1"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endParaRPr lang="en-US" sz="1800" dirty="0"/>
          </a:p>
          <a:p>
            <a:pPr>
              <a:lnSpc>
                <a:spcPct val="100000"/>
              </a:lnSpc>
            </a:pPr>
            <a:endParaRPr lang="en-US" sz="1800" dirty="0"/>
          </a:p>
          <a:p>
            <a:pPr>
              <a:lnSpc>
                <a:spcPct val="100000"/>
              </a:lnSpc>
            </a:pPr>
            <a:endParaRPr lang="en-US" sz="1800" dirty="0"/>
          </a:p>
          <a:p>
            <a:pPr>
              <a:lnSpc>
                <a:spcPct val="100000"/>
              </a:lnSpc>
            </a:pPr>
            <a:endParaRPr lang="en-US" sz="1800" dirty="0"/>
          </a:p>
          <a:p>
            <a:pPr>
              <a:lnSpc>
                <a:spcPct val="100000"/>
              </a:lnSpc>
            </a:pPr>
            <a:endParaRPr lang="en-US" sz="1800" dirty="0"/>
          </a:p>
          <a:p>
            <a:pPr>
              <a:lnSpc>
                <a:spcPct val="100000"/>
              </a:lnSpc>
            </a:pP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2720E-8F03-784C-8F55-34AF7F09A959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7770" y="2870527"/>
            <a:ext cx="4572000" cy="26193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7EE361-AB62-2F55-5719-E9FE348A52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870" y="5870575"/>
            <a:ext cx="4495800" cy="622300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8EB5FD3-4FA9-4AE3-6CB1-D13B5C40D145}"/>
              </a:ext>
            </a:extLst>
          </p:cNvPr>
          <p:cNvSpPr/>
          <p:nvPr/>
        </p:nvSpPr>
        <p:spPr>
          <a:xfrm>
            <a:off x="5249915" y="3090042"/>
            <a:ext cx="1681655" cy="1187669"/>
          </a:xfrm>
          <a:prstGeom prst="roundRect">
            <a:avLst>
              <a:gd name="adj" fmla="val 8702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BD6B37-B4BC-7877-B58E-A58430E54B0E}"/>
              </a:ext>
            </a:extLst>
          </p:cNvPr>
          <p:cNvSpPr txBox="1"/>
          <p:nvPr/>
        </p:nvSpPr>
        <p:spPr>
          <a:xfrm>
            <a:off x="7976036" y="2708051"/>
            <a:ext cx="3048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Similar performance when Cap=100 and 150?</a:t>
            </a:r>
          </a:p>
          <a:p>
            <a:r>
              <a:rPr lang="en-US" sz="1600" dirty="0">
                <a:solidFill>
                  <a:srgbClr val="FF0000"/>
                </a:solidFill>
              </a:rPr>
              <a:t>Try to minimize the difference between the predicted solutions and the true optimal solutions (the aim of </a:t>
            </a:r>
            <a:r>
              <a:rPr lang="en-US" sz="1600" dirty="0" err="1">
                <a:solidFill>
                  <a:srgbClr val="FF0000"/>
                </a:solidFill>
              </a:rPr>
              <a:t>CombOptNet</a:t>
            </a:r>
            <a:r>
              <a:rPr lang="en-US" sz="16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39AB908-5D91-ED3F-209E-B523F4D253DB}"/>
              </a:ext>
            </a:extLst>
          </p:cNvPr>
          <p:cNvSpPr/>
          <p:nvPr/>
        </p:nvSpPr>
        <p:spPr>
          <a:xfrm>
            <a:off x="5249914" y="4269881"/>
            <a:ext cx="1681655" cy="1220021"/>
          </a:xfrm>
          <a:prstGeom prst="roundRect">
            <a:avLst>
              <a:gd name="adj" fmla="val 8702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D853EB-9CC2-42E3-BEF1-4AF301E3CA9C}"/>
              </a:ext>
            </a:extLst>
          </p:cNvPr>
          <p:cNvSpPr txBox="1"/>
          <p:nvPr/>
        </p:nvSpPr>
        <p:spPr>
          <a:xfrm>
            <a:off x="7976036" y="4341282"/>
            <a:ext cx="3048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Much better performance when Cap=200 and 250?</a:t>
            </a:r>
          </a:p>
          <a:p>
            <a:r>
              <a:rPr lang="en-US" sz="1600" dirty="0">
                <a:solidFill>
                  <a:schemeClr val="accent1"/>
                </a:solidFill>
              </a:rPr>
              <a:t>Packing IP </a:t>
            </a:r>
            <a:r>
              <a:rPr lang="en-US" sz="1600" dirty="0">
                <a:solidFill>
                  <a:schemeClr val="accent1"/>
                </a:solidFill>
                <a:sym typeface="Wingdings" pitchFamily="2" charset="2"/>
              </a:rPr>
              <a:t> when cap is large enough, tends to select all items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57E714-CDBC-DAA4-A090-2FECFA066CC1}"/>
              </a:ext>
            </a:extLst>
          </p:cNvPr>
          <p:cNvSpPr txBox="1"/>
          <p:nvPr/>
        </p:nvSpPr>
        <p:spPr>
          <a:xfrm>
            <a:off x="7976036" y="5908100"/>
            <a:ext cx="3048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Proposed: </a:t>
            </a:r>
          </a:p>
          <a:p>
            <a:r>
              <a:rPr lang="en-US" sz="1600" dirty="0"/>
              <a:t>Much shorter training time</a:t>
            </a:r>
          </a:p>
        </p:txBody>
      </p:sp>
    </p:spTree>
    <p:extLst>
      <p:ext uri="{BB962C8B-B14F-4D97-AF65-F5344CB8AC3E}">
        <p14:creationId xmlns:p14="http://schemas.microsoft.com/office/powerpoint/2010/main" val="2096199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/>
      <p:bldP spid="14" grpId="0" animBg="1"/>
      <p:bldP spid="15" grpId="0"/>
      <p:bldP spid="1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e3cef67-c514-4257-80f7-3488369f687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7EA8EFF7603AD4589909F2D6CDAEF87" ma:contentTypeVersion="16" ma:contentTypeDescription="Create a new document." ma:contentTypeScope="" ma:versionID="262e61bdaa8f818340701056797820cd">
  <xsd:schema xmlns:xsd="http://www.w3.org/2001/XMLSchema" xmlns:xs="http://www.w3.org/2001/XMLSchema" xmlns:p="http://schemas.microsoft.com/office/2006/metadata/properties" xmlns:ns3="8e3cef67-c514-4257-80f7-3488369f6876" xmlns:ns4="3ef59f0b-425e-41d0-9729-9f55f01e369c" targetNamespace="http://schemas.microsoft.com/office/2006/metadata/properties" ma:root="true" ma:fieldsID="d1ce742d9a7e0b1c5c9afc948c014c31" ns3:_="" ns4:_="">
    <xsd:import namespace="8e3cef67-c514-4257-80f7-3488369f6876"/>
    <xsd:import namespace="3ef59f0b-425e-41d0-9729-9f55f01e369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3cef67-c514-4257-80f7-3488369f687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f59f0b-425e-41d0-9729-9f55f01e369c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6A07ADB-EC8D-400A-8310-7E24453D758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FDBD999-3381-4A37-87DA-3B3294FCD032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8e3cef67-c514-4257-80f7-3488369f6876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3ef59f0b-425e-41d0-9729-9f55f01e369c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368B2A4D-F2AC-46FB-B28D-B09BFF9ACD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e3cef67-c514-4257-80f7-3488369f6876"/>
    <ds:schemaRef ds:uri="3ef59f0b-425e-41d0-9729-9f55f01e369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456</TotalTime>
  <Words>437</Words>
  <Application>Microsoft Macintosh PowerPoint</Application>
  <PresentationFormat>Widescreen</PresentationFormat>
  <Paragraphs>53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Cambria Math</vt:lpstr>
      <vt:lpstr>Office Theme</vt:lpstr>
      <vt:lpstr>P+O Approach for a New Problem Setting</vt:lpstr>
      <vt:lpstr>New Problem Setting</vt:lpstr>
      <vt:lpstr>Preliminary Experiment Results</vt:lpstr>
      <vt:lpstr>Preliminary Experiment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Settings of P+O</dc:title>
  <dc:creator>HU, Xinyi</dc:creator>
  <cp:lastModifiedBy>Xinyi Hu (DOT)</cp:lastModifiedBy>
  <cp:revision>42</cp:revision>
  <dcterms:created xsi:type="dcterms:W3CDTF">2023-09-17T06:29:44Z</dcterms:created>
  <dcterms:modified xsi:type="dcterms:W3CDTF">2025-09-30T06:18:44Z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0x01010037EA8EFF7603AD4589909F2D6CDAEF87</vt:lpwstr>
  </property>
</Properties>
</file>